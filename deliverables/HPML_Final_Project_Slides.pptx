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s+jjXNRHb2F0y38cTMBPPtWqE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D3BC39-BD96-4A40-BA00-B3D355FB8A0F}">
  <a:tblStyle styleId="{11D3BC39-BD96-4A40-BA00-B3D355FB8A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3A679BD-6CB0-4E65-A99F-7B7DDDAB78A9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dde8bd0c13_1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dde8bd0c13_1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dde8bd0c13_1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de8bd0c13_1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de8bd0c13_1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dde8bd0c13_1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de8bd0c13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de8bd0c13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dde8bd0c13_1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de8bd0c13_1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de8bd0c13_1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dde8bd0c13_1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For this class, profiling is often used to show speedups from optimization.In our case, we use profiling a bit differently — not to speed up the system, but to validate that our method doesn’t introduce new computational bottlenecks, because our goal is improving analog robustness without changing the underlying compute.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This is a Perfetto trace of our training loop. Each block corresponds to a training step — forward pass, backward pass, and optimizer step.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You can see that this pattern is very consistent across steps, which tells us the system is stable and not doing anything unexpected.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The more important takeaway is summarized in this table.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Nearly all of the GPU time — about 99% — is spent in matrix multiplications.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Forward and backward passes each take about half, and the optimizer is only about 2%.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This tells us that our rotation learning is not the bottleneck — the cost is dominated by standard transformer compute. So from a systems perspective, our method integrates into existing pipelines without adding meaningful overhead.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And importantly, since analog errors occur inside these matrix multiplications, optimizing the structure of those operations via rotation directly targets the dominant compute path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The biggest positive result was that rotations consistently improved analog-layer fidelity.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Second thing that worked was, when training completely failed because the AIHWKit analog path broke autograd, we fixed this by implementing a differentiable, torch-based analog simulation, which restored a usable training signal.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We also had to rework how AIHWKit maps weights to tiles — avoiding fragmentation and enabling CPU offloading.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These changes made experiments feasible on limited hardware like ours.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AIHWKit’s C++ backend made debugging difficult — we saw opaque memory issues and subtle failures that were hard to trace.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Rotation training turned out to be very sensitive to hyperparameters — learning rates, sampling, and loss weights. A lot of tuning felt exploratory rather than principled.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So overall, while the method is promising, making it robust and reproducible requires careful engineering.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So far we focused on IR drop and quantization, but real analog hardware has many more non-idealities. Extending to noise, drift, and device variability is a natural next step.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Ultimately, simulation isn’t enough — we’d like to validate these rotations on an actual IBM analog in-memory compute tile.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We also want to test whether these improvements scale to larger, real-world models. Right now we’re limited by hardware, so this is an important validation step.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The key question going forward is whether these rotation-based improvements persist at scale and under more realistic hardware conditions.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de8bd0c13_1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dde8bd0c13_1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dde8bd0c13_1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F2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48640" y="5486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C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BCC4"/>
                </a:solidFill>
                <a:latin typeface="Calibri"/>
                <a:ea typeface="Calibri"/>
                <a:cs typeface="Calibri"/>
                <a:sym typeface="Calibri"/>
              </a:rPr>
              <a:t>HPML Final Project  ·  Spring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201168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Multi-objective Model Rotations for Analog In-Memory Compute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33832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CC4"/>
              </a:buClr>
              <a:buSzPts val="2000"/>
              <a:buFont typeface="Calibri"/>
              <a:buNone/>
            </a:pPr>
            <a:r>
              <a:rPr i="1" lang="en-US" sz="2000">
                <a:solidFill>
                  <a:srgbClr val="B8BCC4"/>
                </a:solidFill>
                <a:latin typeface="Calibri"/>
                <a:ea typeface="Calibri"/>
                <a:cs typeface="Calibri"/>
                <a:sym typeface="Calibri"/>
              </a:rPr>
              <a:t>Reduced perplexity by 36.2% via custom trained weight rotations in AIMC inference compared to baseline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4572000"/>
            <a:ext cx="5486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12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CD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David Wang</a:t>
            </a:r>
            <a:r>
              <a:rPr b="0" i="0" lang="en-US" sz="1300" u="none" cap="none" strike="noStrike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-US" sz="1300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DZW2109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CD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William Trost</a:t>
            </a:r>
            <a:r>
              <a:rPr b="0" i="0" lang="en-US" sz="1300" u="none" cap="none" strike="noStrike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300" u="none" cap="none" strike="noStrike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r>
              <a:rPr lang="en-US" sz="1300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 WIT2102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CD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Alvis Ou </a:t>
            </a:r>
            <a:r>
              <a:rPr b="0" i="0" lang="en-US" sz="1300" u="none" cap="none" strike="noStrike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lang="en-US" sz="1300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AO2844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0" y="4572000"/>
            <a:ext cx="5486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GitHub: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https://github.com/IsaacTrost/AnalogWeightRotations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Tracking: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https://wandb.ai/ao2844-columbia-university/aimc-rotations/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39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E939A"/>
                </a:solidFill>
                <a:latin typeface="Calibri"/>
                <a:ea typeface="Calibri"/>
                <a:cs typeface="Calibri"/>
                <a:sym typeface="Calibri"/>
              </a:rPr>
              <a:t>Dr. Kaoutar El Maghraoui  ·  Columbia University  ·  Week of May 4,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Motivation &amp; Problem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" name="Google Shape;28;p2"/>
          <p:cNvCxnSpPr/>
          <p:nvPr/>
        </p:nvCxnSpPr>
        <p:spPr>
          <a:xfrm>
            <a:off x="457200" y="1188720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2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2286000"/>
            <a:ext cx="5486400" cy="42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AIMC benefit: LLM inference is dominated by large matrix multiplications and bottlenecked by data transfer .Analog in-memory compute (AIMC) performs matrix multiply–accumulates inside memory arrays, greatly reducing data movement and accelerating LLM inference.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Practical challenge: On real analog tiles, physical non-idealities (IR drop across wires, device conductance noise, ADC/DAC quantization and PCM programming noise) distort outputs and degrade model quality.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Opportunity: Orthogonal rotations (SpinQuant, </a:t>
            </a: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which</a:t>
            </a: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we reference) re-distribute activation energy across rows/columns and can reduce outliers and sensitivity to these non-idealities.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Why it matters for LLMs: Small per-layer reductions in analog error translate to large end-to-end perplexity / accuracy improvements for deployed LLM inference.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263640" y="1828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263640" y="2286000"/>
            <a:ext cx="5486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Recover perplexity to near-baseline fp32 levels in the presence of analog-</a:t>
            </a: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non idealities</a:t>
            </a: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on tinyllama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2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Technical Approach — Model &amp; Data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41;p3"/>
          <p:cNvCxnSpPr/>
          <p:nvPr/>
        </p:nvCxnSpPr>
        <p:spPr>
          <a:xfrm>
            <a:off x="457200" y="1188720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3"/>
          <p:cNvSpPr/>
          <p:nvPr/>
        </p:nvSpPr>
        <p:spPr>
          <a:xfrm>
            <a:off x="457200" y="1828800"/>
            <a:ext cx="3584448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685800" y="2011680"/>
            <a:ext cx="31272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685800" y="2468880"/>
            <a:ext cx="3127248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TinyLlama/TinyLlama-v1.1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315968" y="1828800"/>
            <a:ext cx="3584448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4544568" y="2011680"/>
            <a:ext cx="31272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544568" y="2468880"/>
            <a:ext cx="3127248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wikitext-2-raw-v1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36,718 texts 81.9%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Validation 3,760 texts 8.4%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Test 4,358 texts ~9.7%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Total 44,836 texts 100%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8174736" y="1828800"/>
            <a:ext cx="3584448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8403336" y="2011680"/>
            <a:ext cx="31272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8403336" y="2468880"/>
            <a:ext cx="3127248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Primarily</a:t>
            </a: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trained on Nvidia T4, some work was done on 3090 and Grace-Hopper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AIHWKIT/Pytorch running on CUDA was used for validation runs, pytorch running CUDA alone used for most training runs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3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de8bd0c13_1_40"/>
          <p:cNvSpPr/>
          <p:nvPr/>
        </p:nvSpPr>
        <p:spPr>
          <a:xfrm>
            <a:off x="457200" y="502920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Technical Approach — </a:t>
            </a:r>
            <a:r>
              <a:rPr b="1" lang="en-US" sz="3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Analog non-idealities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g3dde8bd0c13_1_40"/>
          <p:cNvCxnSpPr/>
          <p:nvPr/>
        </p:nvCxnSpPr>
        <p:spPr>
          <a:xfrm>
            <a:off x="457200" y="1188720"/>
            <a:ext cx="112746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g3dde8bd0c13_1_40"/>
          <p:cNvSpPr/>
          <p:nvPr/>
        </p:nvSpPr>
        <p:spPr>
          <a:xfrm>
            <a:off x="457200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dde8bd0c13_1_40"/>
          <p:cNvSpPr/>
          <p:nvPr/>
        </p:nvSpPr>
        <p:spPr>
          <a:xfrm>
            <a:off x="6245352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3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dde8bd0c13_1_40"/>
          <p:cNvSpPr/>
          <p:nvPr/>
        </p:nvSpPr>
        <p:spPr>
          <a:xfrm>
            <a:off x="457200" y="1828800"/>
            <a:ext cx="4483200" cy="478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dde8bd0c13_1_40"/>
          <p:cNvSpPr/>
          <p:nvPr/>
        </p:nvSpPr>
        <p:spPr>
          <a:xfrm>
            <a:off x="685800" y="2011680"/>
            <a:ext cx="312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IR-drop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dde8bd0c13_1_40"/>
          <p:cNvSpPr/>
          <p:nvPr/>
        </p:nvSpPr>
        <p:spPr>
          <a:xfrm>
            <a:off x="685800" y="2468880"/>
            <a:ext cx="3127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wires between crossbar tiles have resistance, meaning that signals that have to travel further lose more signal integrity (further from input and outputs)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dde8bd0c13_1_40"/>
          <p:cNvSpPr/>
          <p:nvPr/>
        </p:nvSpPr>
        <p:spPr>
          <a:xfrm>
            <a:off x="6477600" y="1805950"/>
            <a:ext cx="4410300" cy="478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dde8bd0c13_1_40"/>
          <p:cNvSpPr/>
          <p:nvPr/>
        </p:nvSpPr>
        <p:spPr>
          <a:xfrm>
            <a:off x="6758876" y="1988830"/>
            <a:ext cx="3847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Quantization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dde8bd0c13_1_40"/>
          <p:cNvSpPr/>
          <p:nvPr/>
        </p:nvSpPr>
        <p:spPr>
          <a:xfrm>
            <a:off x="6758876" y="2446030"/>
            <a:ext cx="3847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ADC’s and DAC’s quantize inputs when creating analog signals, and quantize and clamp outputs when when reading analog signals. This works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subtly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differently from how digital quantization works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dde8bd0c13_1_40"/>
          <p:cNvSpPr/>
          <p:nvPr/>
        </p:nvSpPr>
        <p:spPr>
          <a:xfrm>
            <a:off x="2265025" y="3826025"/>
            <a:ext cx="2443200" cy="70800"/>
          </a:xfrm>
          <a:prstGeom prst="rect">
            <a:avLst/>
          </a:prstGeom>
          <a:solidFill>
            <a:schemeClr val="lt2"/>
          </a:solidFill>
          <a:ln cap="flat" cmpd="sng" w="9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7"/>
          </a:p>
        </p:txBody>
      </p:sp>
      <p:sp>
        <p:nvSpPr>
          <p:cNvPr id="69" name="Google Shape;69;g3dde8bd0c13_1_40"/>
          <p:cNvSpPr/>
          <p:nvPr/>
        </p:nvSpPr>
        <p:spPr>
          <a:xfrm>
            <a:off x="2265025" y="4378642"/>
            <a:ext cx="2443200" cy="70800"/>
          </a:xfrm>
          <a:prstGeom prst="rect">
            <a:avLst/>
          </a:prstGeom>
          <a:solidFill>
            <a:schemeClr val="lt2"/>
          </a:solidFill>
          <a:ln cap="flat" cmpd="sng" w="9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7"/>
          </a:p>
        </p:txBody>
      </p:sp>
      <p:sp>
        <p:nvSpPr>
          <p:cNvPr id="70" name="Google Shape;70;g3dde8bd0c13_1_40"/>
          <p:cNvSpPr/>
          <p:nvPr/>
        </p:nvSpPr>
        <p:spPr>
          <a:xfrm>
            <a:off x="2265025" y="4931259"/>
            <a:ext cx="2443200" cy="70800"/>
          </a:xfrm>
          <a:prstGeom prst="rect">
            <a:avLst/>
          </a:prstGeom>
          <a:solidFill>
            <a:schemeClr val="lt2"/>
          </a:solidFill>
          <a:ln cap="flat" cmpd="sng" w="9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7"/>
          </a:p>
        </p:txBody>
      </p:sp>
      <p:sp>
        <p:nvSpPr>
          <p:cNvPr id="71" name="Google Shape;71;g3dde8bd0c13_1_40"/>
          <p:cNvSpPr/>
          <p:nvPr/>
        </p:nvSpPr>
        <p:spPr>
          <a:xfrm>
            <a:off x="2265025" y="5483875"/>
            <a:ext cx="2443200" cy="70800"/>
          </a:xfrm>
          <a:prstGeom prst="rect">
            <a:avLst/>
          </a:prstGeom>
          <a:solidFill>
            <a:schemeClr val="lt2"/>
          </a:solidFill>
          <a:ln cap="flat" cmpd="sng" w="9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7"/>
          </a:p>
        </p:txBody>
      </p:sp>
      <p:sp>
        <p:nvSpPr>
          <p:cNvPr id="72" name="Google Shape;72;g3dde8bd0c13_1_40"/>
          <p:cNvSpPr/>
          <p:nvPr/>
        </p:nvSpPr>
        <p:spPr>
          <a:xfrm rot="5400000">
            <a:off x="3243200" y="4810500"/>
            <a:ext cx="2449500" cy="70800"/>
          </a:xfrm>
          <a:prstGeom prst="rect">
            <a:avLst/>
          </a:prstGeom>
          <a:solidFill>
            <a:schemeClr val="lt2"/>
          </a:solidFill>
          <a:ln cap="flat" cmpd="sng" w="9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7"/>
          </a:p>
        </p:txBody>
      </p:sp>
      <p:sp>
        <p:nvSpPr>
          <p:cNvPr id="73" name="Google Shape;73;g3dde8bd0c13_1_40"/>
          <p:cNvSpPr/>
          <p:nvPr/>
        </p:nvSpPr>
        <p:spPr>
          <a:xfrm rot="5400000">
            <a:off x="2690583" y="4810500"/>
            <a:ext cx="2449500" cy="70800"/>
          </a:xfrm>
          <a:prstGeom prst="rect">
            <a:avLst/>
          </a:prstGeom>
          <a:solidFill>
            <a:schemeClr val="lt2"/>
          </a:solidFill>
          <a:ln cap="flat" cmpd="sng" w="9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7"/>
          </a:p>
        </p:txBody>
      </p:sp>
      <p:sp>
        <p:nvSpPr>
          <p:cNvPr id="74" name="Google Shape;74;g3dde8bd0c13_1_40"/>
          <p:cNvSpPr/>
          <p:nvPr/>
        </p:nvSpPr>
        <p:spPr>
          <a:xfrm rot="5400000">
            <a:off x="2137967" y="4810500"/>
            <a:ext cx="2449500" cy="70800"/>
          </a:xfrm>
          <a:prstGeom prst="rect">
            <a:avLst/>
          </a:prstGeom>
          <a:solidFill>
            <a:schemeClr val="lt2"/>
          </a:solidFill>
          <a:ln cap="flat" cmpd="sng" w="9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7"/>
          </a:p>
        </p:txBody>
      </p:sp>
      <p:sp>
        <p:nvSpPr>
          <p:cNvPr id="75" name="Google Shape;75;g3dde8bd0c13_1_40"/>
          <p:cNvSpPr/>
          <p:nvPr/>
        </p:nvSpPr>
        <p:spPr>
          <a:xfrm rot="5400000">
            <a:off x="1585350" y="4810500"/>
            <a:ext cx="2449500" cy="70800"/>
          </a:xfrm>
          <a:prstGeom prst="rect">
            <a:avLst/>
          </a:prstGeom>
          <a:solidFill>
            <a:schemeClr val="lt2"/>
          </a:solidFill>
          <a:ln cap="flat" cmpd="sng" w="9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7"/>
          </a:p>
        </p:txBody>
      </p:sp>
      <p:sp>
        <p:nvSpPr>
          <p:cNvPr id="76" name="Google Shape;76;g3dde8bd0c13_1_40"/>
          <p:cNvSpPr/>
          <p:nvPr/>
        </p:nvSpPr>
        <p:spPr>
          <a:xfrm>
            <a:off x="1660375" y="3680488"/>
            <a:ext cx="604500" cy="365700"/>
          </a:xfrm>
          <a:prstGeom prst="rect">
            <a:avLst/>
          </a:prstGeom>
          <a:solidFill>
            <a:srgbClr val="C75B2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DAC</a:t>
            </a:r>
            <a:endParaRPr/>
          </a:p>
        </p:txBody>
      </p:sp>
      <p:sp>
        <p:nvSpPr>
          <p:cNvPr id="77" name="Google Shape;77;g3dde8bd0c13_1_40"/>
          <p:cNvSpPr/>
          <p:nvPr/>
        </p:nvSpPr>
        <p:spPr>
          <a:xfrm>
            <a:off x="1660375" y="4231200"/>
            <a:ext cx="604500" cy="365700"/>
          </a:xfrm>
          <a:prstGeom prst="rect">
            <a:avLst/>
          </a:prstGeom>
          <a:solidFill>
            <a:srgbClr val="C75B2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DAC</a:t>
            </a:r>
            <a:endParaRPr/>
          </a:p>
        </p:txBody>
      </p:sp>
      <p:sp>
        <p:nvSpPr>
          <p:cNvPr id="78" name="Google Shape;78;g3dde8bd0c13_1_40"/>
          <p:cNvSpPr/>
          <p:nvPr/>
        </p:nvSpPr>
        <p:spPr>
          <a:xfrm>
            <a:off x="1660375" y="4781888"/>
            <a:ext cx="604500" cy="365700"/>
          </a:xfrm>
          <a:prstGeom prst="rect">
            <a:avLst/>
          </a:prstGeom>
          <a:solidFill>
            <a:srgbClr val="C75B2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DAC</a:t>
            </a:r>
            <a:endParaRPr/>
          </a:p>
        </p:txBody>
      </p:sp>
      <p:sp>
        <p:nvSpPr>
          <p:cNvPr id="79" name="Google Shape;79;g3dde8bd0c13_1_40"/>
          <p:cNvSpPr/>
          <p:nvPr/>
        </p:nvSpPr>
        <p:spPr>
          <a:xfrm>
            <a:off x="1660375" y="5332600"/>
            <a:ext cx="604500" cy="365700"/>
          </a:xfrm>
          <a:prstGeom prst="rect">
            <a:avLst/>
          </a:prstGeom>
          <a:solidFill>
            <a:srgbClr val="C75B2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DAC</a:t>
            </a:r>
            <a:endParaRPr/>
          </a:p>
        </p:txBody>
      </p:sp>
      <p:sp>
        <p:nvSpPr>
          <p:cNvPr id="80" name="Google Shape;80;g3dde8bd0c13_1_40"/>
          <p:cNvSpPr/>
          <p:nvPr/>
        </p:nvSpPr>
        <p:spPr>
          <a:xfrm>
            <a:off x="2507850" y="6070638"/>
            <a:ext cx="604500" cy="365700"/>
          </a:xfrm>
          <a:prstGeom prst="rect">
            <a:avLst/>
          </a:prstGeom>
          <a:solidFill>
            <a:srgbClr val="6BFF8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ADC</a:t>
            </a:r>
            <a:endParaRPr/>
          </a:p>
        </p:txBody>
      </p:sp>
      <p:sp>
        <p:nvSpPr>
          <p:cNvPr id="81" name="Google Shape;81;g3dde8bd0c13_1_40"/>
          <p:cNvSpPr/>
          <p:nvPr/>
        </p:nvSpPr>
        <p:spPr>
          <a:xfrm>
            <a:off x="3060463" y="6070638"/>
            <a:ext cx="604500" cy="365700"/>
          </a:xfrm>
          <a:prstGeom prst="rect">
            <a:avLst/>
          </a:prstGeom>
          <a:solidFill>
            <a:srgbClr val="6BFF8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ADC</a:t>
            </a:r>
            <a:endParaRPr/>
          </a:p>
        </p:txBody>
      </p:sp>
      <p:sp>
        <p:nvSpPr>
          <p:cNvPr id="82" name="Google Shape;82;g3dde8bd0c13_1_40"/>
          <p:cNvSpPr/>
          <p:nvPr/>
        </p:nvSpPr>
        <p:spPr>
          <a:xfrm>
            <a:off x="3604450" y="6070638"/>
            <a:ext cx="604500" cy="365700"/>
          </a:xfrm>
          <a:prstGeom prst="rect">
            <a:avLst/>
          </a:prstGeom>
          <a:solidFill>
            <a:srgbClr val="6BFF8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ADC</a:t>
            </a:r>
            <a:endParaRPr/>
          </a:p>
        </p:txBody>
      </p:sp>
      <p:sp>
        <p:nvSpPr>
          <p:cNvPr id="83" name="Google Shape;83;g3dde8bd0c13_1_40"/>
          <p:cNvSpPr/>
          <p:nvPr/>
        </p:nvSpPr>
        <p:spPr>
          <a:xfrm>
            <a:off x="4157063" y="6070638"/>
            <a:ext cx="604500" cy="365700"/>
          </a:xfrm>
          <a:prstGeom prst="rect">
            <a:avLst/>
          </a:prstGeom>
          <a:solidFill>
            <a:srgbClr val="6BFF8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ADC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dde8bd0c13_1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75" y="1895300"/>
            <a:ext cx="11887201" cy="471889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dde8bd0c13_1_4"/>
          <p:cNvSpPr/>
          <p:nvPr/>
        </p:nvSpPr>
        <p:spPr>
          <a:xfrm>
            <a:off x="457200" y="502920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Technical Approach — </a:t>
            </a:r>
            <a:r>
              <a:rPr b="1" lang="en-US" sz="3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Spinquant motivation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dde8bd0c13_1_4"/>
          <p:cNvSpPr txBox="1"/>
          <p:nvPr/>
        </p:nvSpPr>
        <p:spPr>
          <a:xfrm>
            <a:off x="457200" y="63932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Liu et al. (2024) </a:t>
            </a:r>
            <a:endParaRPr/>
          </a:p>
        </p:txBody>
      </p:sp>
      <p:sp>
        <p:nvSpPr>
          <p:cNvPr id="92" name="Google Shape;92;g3dde8bd0c13_1_4"/>
          <p:cNvSpPr/>
          <p:nvPr/>
        </p:nvSpPr>
        <p:spPr>
          <a:xfrm>
            <a:off x="474077" y="1255095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Core idea: y=Wx = WR</a:t>
            </a:r>
            <a:r>
              <a:rPr baseline="30000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Rx where W is the weight matrix and R is the rotation matrix. Since R will be orthogonal, R</a:t>
            </a:r>
            <a:r>
              <a:rPr baseline="30000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will just be R</a:t>
            </a:r>
            <a:r>
              <a:rPr baseline="30000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endParaRPr baseline="3000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de8bd0c13_1_10"/>
          <p:cNvSpPr/>
          <p:nvPr/>
        </p:nvSpPr>
        <p:spPr>
          <a:xfrm>
            <a:off x="457200" y="502920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Technical Approach - </a:t>
            </a:r>
            <a:r>
              <a:rPr b="1" lang="en-US" sz="3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Effects of the rotations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dde8bd0c13_1_10"/>
          <p:cNvSpPr txBox="1"/>
          <p:nvPr/>
        </p:nvSpPr>
        <p:spPr>
          <a:xfrm>
            <a:off x="374625" y="64095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Liu et al. (2024) </a:t>
            </a:r>
            <a:endParaRPr/>
          </a:p>
        </p:txBody>
      </p:sp>
      <p:sp>
        <p:nvSpPr>
          <p:cNvPr id="100" name="Google Shape;100;g3dde8bd0c13_1_10"/>
          <p:cNvSpPr/>
          <p:nvPr/>
        </p:nvSpPr>
        <p:spPr>
          <a:xfrm>
            <a:off x="474077" y="1255095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Core idea: We reduce the number of outliers and transform weight values to a more even distribution to mitigate quantization error</a:t>
            </a:r>
            <a:endParaRPr baseline="3000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g3dde8bd0c13_1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3650" y="2007270"/>
            <a:ext cx="7103043" cy="4657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de8bd0c13_1_57"/>
          <p:cNvSpPr/>
          <p:nvPr/>
        </p:nvSpPr>
        <p:spPr>
          <a:xfrm>
            <a:off x="457200" y="502920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Technical Approach - </a:t>
            </a:r>
            <a:r>
              <a:rPr b="1" lang="en-US" sz="3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Effects of the rotations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g3dde8bd0c13_1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2450" y="1063745"/>
            <a:ext cx="6679110" cy="5410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Technical Approach — Optimizations Applied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4"/>
          <p:cNvCxnSpPr/>
          <p:nvPr/>
        </p:nvCxnSpPr>
        <p:spPr>
          <a:xfrm>
            <a:off x="457200" y="1188720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4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960120" y="187452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Random hadamard rotations to weight matrices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960125" y="2377450"/>
            <a:ext cx="10698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400"/>
              <a:buFont typeface="Calibri"/>
              <a:buNone/>
            </a:pPr>
            <a:r>
              <a:rPr lang="en-US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Spreads out energy of weight matrix, reducing outliers and ensuring tighter range for better </a:t>
            </a:r>
            <a:r>
              <a:rPr lang="en-US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quantization in ADC,DAC  and less extreme IR drop effects.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960120" y="329184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Analog trained Rotations to weight matrices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960125" y="3794750"/>
            <a:ext cx="10894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400"/>
              <a:buFont typeface="Calibri"/>
              <a:buNone/>
            </a:pPr>
            <a:r>
              <a:rPr lang="en-US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Improve on random matrices by introducing rotation matrices trained in analog environments to better capture and counteract analog </a:t>
            </a:r>
            <a:r>
              <a:rPr lang="en-US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non idealities’ effects on weights.</a:t>
            </a:r>
            <a:r>
              <a:rPr lang="en-US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57200" y="4709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960120" y="470916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Online Rotations(R3,R4) in places where we can’t do offline rotations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960120" y="5212080"/>
            <a:ext cx="10698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400"/>
              <a:buFont typeface="Calibri"/>
              <a:buNone/>
            </a:pPr>
            <a:r>
              <a:rPr lang="en-US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Reduces analog effects on input activations in addition to weights via random hadamard rotations to further spread out energy and reduce outliers.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4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— Headline Numbers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6"/>
          <p:cNvCxnSpPr/>
          <p:nvPr/>
        </p:nvCxnSpPr>
        <p:spPr>
          <a:xfrm>
            <a:off x="457200" y="1188720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6"/>
          <p:cNvSpPr/>
          <p:nvPr/>
        </p:nvSpPr>
        <p:spPr>
          <a:xfrm>
            <a:off x="4315968" y="2286000"/>
            <a:ext cx="3584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5B2A"/>
              </a:buClr>
              <a:buSzPts val="6400"/>
              <a:buFont typeface="Calibri"/>
              <a:buNone/>
            </a:pPr>
            <a:r>
              <a:rPr b="1" lang="en-US" sz="6400">
                <a:solidFill>
                  <a:srgbClr val="C75B2A"/>
                </a:solidFill>
                <a:latin typeface="Calibri"/>
                <a:ea typeface="Calibri"/>
                <a:cs typeface="Calibri"/>
                <a:sym typeface="Calibri"/>
              </a:rPr>
              <a:t>36.2</a:t>
            </a:r>
            <a:r>
              <a:rPr b="1" i="0" lang="en-US" sz="6400" u="none" cap="none" strike="noStrike">
                <a:solidFill>
                  <a:srgbClr val="C75B2A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315968" y="3840480"/>
            <a:ext cx="358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Lower </a:t>
            </a:r>
            <a:r>
              <a:rPr b="1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Perplexity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315968" y="4251960"/>
            <a:ext cx="358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When evaluated on the wikitext dataset with reasonable hardware configs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All measurements averaged over </a:t>
            </a:r>
            <a:r>
              <a:rPr i="1" lang="en-US" sz="11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1" lang="en-US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 runs on </a:t>
            </a:r>
            <a:r>
              <a:rPr i="1" lang="en-US" sz="11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nvidia T4</a:t>
            </a:r>
            <a:r>
              <a:rPr b="0" i="1" lang="en-US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6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Results — Before vs. After (Ir drop =</a:t>
            </a:r>
            <a:r>
              <a:rPr b="1" lang="en-US" sz="3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2, 6 bit quantization)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7"/>
          <p:cNvCxnSpPr/>
          <p:nvPr/>
        </p:nvCxnSpPr>
        <p:spPr>
          <a:xfrm>
            <a:off x="457200" y="1188720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7"/>
          <p:cNvSpPr/>
          <p:nvPr/>
        </p:nvSpPr>
        <p:spPr>
          <a:xfrm>
            <a:off x="7863840" y="18288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7863840" y="2236325"/>
            <a:ext cx="3931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Online matrices add miner computational complexity, and contribute only 5% of the 36% improvement</a:t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7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1" name="Google Shape;151;p7"/>
          <p:cNvGraphicFramePr/>
          <p:nvPr/>
        </p:nvGraphicFramePr>
        <p:xfrm>
          <a:off x="654675" y="1305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{11D3BC39-BD96-4A40-BA00-B3D355FB8A0F}</a:tableStyleId>
              </a:tblPr>
              <a:tblGrid>
                <a:gridCol w="1652975"/>
                <a:gridCol w="1652975"/>
                <a:gridCol w="1652975"/>
              </a:tblGrid>
              <a:tr h="78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Config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nll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ppl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78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Float baseline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2.616288                           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13.6848  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78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Hardware config, no rotations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3.072571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21.5974   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105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Hardware config, Hadamard (untrained) rotations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2.645755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14.0941 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trained rotations</a:t>
                      </a:r>
                      <a:endParaRPr sz="11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2.619262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13.7256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2" name="Google Shape;15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2624" y="3135750"/>
            <a:ext cx="5368726" cy="313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Demo / Visualization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9"/>
          <p:cNvCxnSpPr/>
          <p:nvPr/>
        </p:nvCxnSpPr>
        <p:spPr>
          <a:xfrm>
            <a:off x="457200" y="1188720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9"/>
          <p:cNvSpPr/>
          <p:nvPr/>
        </p:nvSpPr>
        <p:spPr>
          <a:xfrm>
            <a:off x="457200" y="2103120"/>
            <a:ext cx="112745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[ Demo / GIF / Screen recording / Live notebook ]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2286000" y="3291840"/>
            <a:ext cx="7616952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400"/>
              <a:buFont typeface="Calibri"/>
              <a:buChar char="•"/>
            </a:pPr>
            <a:r>
              <a:rPr b="0" i="1" lang="en-US" sz="14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Have a fallback static image in case live demo fails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6B6F76"/>
              </a:buClr>
              <a:buSzPts val="1400"/>
              <a:buFont typeface="Calibri"/>
              <a:buChar char="•"/>
            </a:pPr>
            <a:r>
              <a:rPr b="0" i="1" lang="en-US" sz="14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Pre-load any models or data — do not wait for downloads on stage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6B6F76"/>
              </a:buClr>
              <a:buSzPts val="1400"/>
              <a:buFont typeface="Calibri"/>
              <a:buChar char="•"/>
            </a:pPr>
            <a:r>
              <a:rPr b="0" i="1" lang="en-US" sz="14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Narrate what to look at while it runs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9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1275" y="1390887"/>
            <a:ext cx="10104773" cy="494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Profiler Evidence with PyTorch Profiler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8"/>
          <p:cNvCxnSpPr/>
          <p:nvPr/>
        </p:nvCxnSpPr>
        <p:spPr>
          <a:xfrm>
            <a:off x="457200" y="1188720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8"/>
          <p:cNvSpPr/>
          <p:nvPr/>
        </p:nvSpPr>
        <p:spPr>
          <a:xfrm>
            <a:off x="457200" y="1828800"/>
            <a:ext cx="777240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8458200" y="1598150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What to point at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8458200" y="2116856"/>
            <a:ext cx="3291900" cy="42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Rotation learning adds negligible runtime overhead relative to transformer compute.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method integrates into standard training pipelines without introducing new computational bottlenecks.</a:t>
            </a:r>
            <a:endParaRPr sz="1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Because runtime is dominated by GEMMs, any improvement in numerical stability of these operations (via rotation) directly translates to hardware robustness without changing computational structure. </a:t>
            </a:r>
            <a:endParaRPr sz="1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Bottom line: our method is cheap, scalable, and correctly targeted at the dominant compute path </a:t>
            </a:r>
            <a:endParaRPr sz="1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8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8" y="1400303"/>
            <a:ext cx="7772401" cy="31317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8" name="Google Shape;178;p8"/>
          <p:cNvGraphicFramePr/>
          <p:nvPr/>
        </p:nvGraphicFramePr>
        <p:xfrm>
          <a:off x="457200" y="45782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{11D3BC39-BD96-4A40-BA00-B3D355FB8A0F}</a:tableStyleId>
              </a:tblPr>
              <a:tblGrid>
                <a:gridCol w="3886200"/>
                <a:gridCol w="3886200"/>
              </a:tblGrid>
              <a:tr h="32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Operation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% of CUDA time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aten::mm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~99%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backward GEMM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~48%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forward GEMM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~49%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optimizer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~2%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10"/>
          <p:cNvCxnSpPr/>
          <p:nvPr/>
        </p:nvCxnSpPr>
        <p:spPr>
          <a:xfrm>
            <a:off x="457200" y="1188720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10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What worked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Rotation effect: </a:t>
            </a: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Random and structured orthogonal rotations improve analog-layer fidelity beyond simple quantization fixes (reduced rel‑L2 error, higher SNR).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Training recovery after tooling fix:</a:t>
            </a: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Training was initially failing because the analog path broke the autograd chain; switching to a custom torch-backed analog tile restored an effective training signal.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Practical engineering fixes:</a:t>
            </a: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Reworked AIHWKit mapping (avoid default 512×512 fragmentation) and applied CPU-paging / single-tile mapping which kept experiments runnable on limited hardware.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6263640" y="1828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What didn't work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6263640" y="2286000"/>
            <a:ext cx="5486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Debuggability &amp; memory fragility</a:t>
            </a: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 AIHWKit’s C++ backend caused opaque memory growth and subtle inference/training failures that were time-consuming to diagnose.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Hyperparameter sensitivity</a:t>
            </a: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 Rotation training (learning rates, batch subsampling, auxiliary-loss weights) required extensive tuning; many settings felt like “shot in the dark.”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10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11"/>
          <p:cNvCxnSpPr/>
          <p:nvPr/>
        </p:nvCxnSpPr>
        <p:spPr>
          <a:xfrm>
            <a:off x="457200" y="1188720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11"/>
          <p:cNvSpPr/>
          <p:nvPr/>
        </p:nvSpPr>
        <p:spPr>
          <a:xfrm>
            <a:off x="457200" y="2011680"/>
            <a:ext cx="11274552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r>
              <a:rPr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against more analog configurations and non-idealities </a:t>
            </a:r>
            <a:r>
              <a:rPr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besides</a:t>
            </a:r>
            <a:r>
              <a:rPr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IR drop and ADC/DAC quantization</a:t>
            </a:r>
            <a:endParaRPr sz="18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Run modified LLM on a real IBM analog in memory compute tile</a:t>
            </a:r>
            <a:endParaRPr sz="18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Validate findings on larger, real world models</a:t>
            </a:r>
            <a:endParaRPr sz="18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11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Teamwork &amp; Contributions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12"/>
          <p:cNvCxnSpPr/>
          <p:nvPr/>
        </p:nvCxnSpPr>
        <p:spPr>
          <a:xfrm>
            <a:off x="457200" y="1188720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09" name="Google Shape;209;p12"/>
          <p:cNvGraphicFramePr/>
          <p:nvPr/>
        </p:nvGraphicFramePr>
        <p:xfrm>
          <a:off x="45720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{C3A679BD-6CB0-4E65-A99F-7B7DDDAB78A9}</a:tableStyleId>
              </a:tblPr>
              <a:tblGrid>
                <a:gridCol w="2011675"/>
                <a:gridCol w="5029200"/>
                <a:gridCol w="4233675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Member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Primary contributions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Tools / artifacts (if not listed, assum</a:t>
                      </a:r>
                      <a:r>
                        <a:rPr b="1" lang="en-US" sz="13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 shared work)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William Trost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Evaluation and plotting, checking and </a:t>
                      </a: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debugging</a:t>
                      </a: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analog conversion and rotation code.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src/train_full_analog.py, src/eval_analog_perplexity.py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Alvis Ou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Hardware-config refactor, shared analog conversion utilities, profiling hooks and config centralization.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src/hardware_configs.py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David Wang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</a:t>
                      </a: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forward pass</a:t>
                      </a: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rotation utilities, groundwork for analog rotation, pass and training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src/full_model_pipeline.py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src/rotation_utils.py, src/llama_prepare, src/llama_model…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0" name="Google Shape;210;p12"/>
          <p:cNvSpPr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Collaboration: regular </a:t>
            </a:r>
            <a:r>
              <a:rPr i="1" lang="en-US" sz="11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weekly </a:t>
            </a:r>
            <a:r>
              <a:rPr b="0" i="1" lang="en-US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meetings </a:t>
            </a:r>
            <a:r>
              <a:rPr i="1" lang="en-US" sz="11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with IBM </a:t>
            </a:r>
            <a:r>
              <a:rPr i="1" lang="en-US" sz="11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mentors</a:t>
            </a:r>
            <a:r>
              <a:rPr i="1" lang="en-US" sz="11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 as well as in-person team meetings,</a:t>
            </a:r>
            <a:r>
              <a:rPr b="0" i="1" lang="en-US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 shared</a:t>
            </a:r>
            <a:r>
              <a:rPr i="1" lang="en-US" sz="11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 iMessage </a:t>
            </a:r>
            <a:r>
              <a:rPr i="1" lang="en-US" sz="11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group chat</a:t>
            </a:r>
            <a:r>
              <a:rPr b="0" i="1" lang="en-US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separate</a:t>
            </a:r>
            <a:r>
              <a:rPr b="0" i="1" lang="en-US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 branches and code review/discussion</a:t>
            </a:r>
            <a:r>
              <a:rPr i="1" lang="en-US" sz="11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on </a:t>
            </a:r>
            <a:r>
              <a:rPr i="1" lang="en-US" sz="11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major changes. Much of the programming was done live, pair-programming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12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F26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"/>
          <p:cNvSpPr/>
          <p:nvPr/>
        </p:nvSpPr>
        <p:spPr>
          <a:xfrm>
            <a:off x="609590" y="405510"/>
            <a:ext cx="109728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457190" y="3352150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CC4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B8BCC4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548640" y="457200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GitHub:  h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ttps://github.com/IsaacTrost/AnalogWeightRotations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Tracking:  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https://wandb.ai/ao2844-columbia-university/aimc-rotations/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39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E939A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939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E939A"/>
                </a:solidFill>
                <a:latin typeface="Calibri"/>
                <a:ea typeface="Calibri"/>
                <a:cs typeface="Calibri"/>
                <a:sym typeface="Calibri"/>
              </a:rPr>
              <a:t>13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457200" y="1867350"/>
            <a:ext cx="10972800" cy="11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CC4"/>
              </a:buClr>
              <a:buSzPts val="2800"/>
              <a:buFont typeface="Calibri"/>
              <a:buNone/>
            </a:pPr>
            <a:r>
              <a:rPr i="1" lang="en-US" sz="2800">
                <a:solidFill>
                  <a:srgbClr val="B8BCC4"/>
                </a:solidFill>
                <a:latin typeface="Calibri"/>
                <a:ea typeface="Calibri"/>
                <a:cs typeface="Calibri"/>
                <a:sym typeface="Calibri"/>
              </a:rPr>
              <a:t>Special thanks to Charles Mackin and Akul Malhotra from IBM for mentoring this project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de8bd0c13_1_16"/>
          <p:cNvSpPr txBox="1"/>
          <p:nvPr/>
        </p:nvSpPr>
        <p:spPr>
          <a:xfrm>
            <a:off x="822550" y="3200700"/>
            <a:ext cx="697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Liu, Z., Zhao, C., Fedorov, I., Soran, B., Choudhary, D., Krishnamoorthi, R., Chandra, V., Tian, Y., &amp; Blankevoort, T. (2024). </a:t>
            </a:r>
            <a:r>
              <a:rPr i="1" lang="en-US" sz="1100">
                <a:solidFill>
                  <a:schemeClr val="dk1"/>
                </a:solidFill>
              </a:rPr>
              <a:t>SpinQuant: LLM quantization with learned rotations</a:t>
            </a:r>
            <a:r>
              <a:rPr lang="en-US" sz="1100">
                <a:solidFill>
                  <a:schemeClr val="dk1"/>
                </a:solidFill>
              </a:rPr>
              <a:t>. arXiv. </a:t>
            </a:r>
            <a:endParaRPr/>
          </a:p>
        </p:txBody>
      </p:sp>
      <p:sp>
        <p:nvSpPr>
          <p:cNvPr id="230" name="Google Shape;230;g3dde8bd0c13_1_16"/>
          <p:cNvSpPr/>
          <p:nvPr/>
        </p:nvSpPr>
        <p:spPr>
          <a:xfrm>
            <a:off x="457200" y="502920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Citations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2026-05-03T03:17:50Z</dcterms:created>
  <dc:creator>Dr. Kaoutar El Maghraoui</dc:creator>
</cp:coreProperties>
</file>